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314" r:id="rId5"/>
    <p:sldId id="315" r:id="rId6"/>
    <p:sldId id="316" r:id="rId7"/>
    <p:sldId id="317" r:id="rId8"/>
    <p:sldId id="318" r:id="rId9"/>
    <p:sldId id="325" r:id="rId10"/>
    <p:sldId id="3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727149915084146E-2"/>
          <c:y val="4.2075496846376528E-2"/>
          <c:w val="0.73102632391539291"/>
          <c:h val="0.9578001370575541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211600</c:v>
                </c:pt>
                <c:pt idx="1">
                  <c:v>110000</c:v>
                </c:pt>
                <c:pt idx="2">
                  <c:v>6400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0C-473F-8917-CDBA3DBCFC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922" y="3429000"/>
            <a:ext cx="8122592" cy="3200400"/>
          </a:xfrm>
        </p:spPr>
        <p:txBody>
          <a:bodyPr>
            <a:normAutofit fontScale="90000"/>
          </a:bodyPr>
          <a:lstStyle/>
          <a:p>
            <a:r>
              <a:rPr lang="en-US" sz="7300" dirty="0">
                <a:highlight>
                  <a:srgbClr val="808080"/>
                </a:highlight>
              </a:rPr>
              <a:t>Driver Drowsiness Detection</a:t>
            </a:r>
            <a:br>
              <a:rPr lang="en-US" dirty="0"/>
            </a:br>
            <a:br>
              <a:rPr lang="en-US" dirty="0"/>
            </a:br>
            <a:r>
              <a:rPr lang="ja-JP" altLang="en-US" dirty="0"/>
              <a:t>居眠り運転検知・警告システム</a:t>
            </a:r>
            <a:br>
              <a:rPr lang="ja-JP" alt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999BCD3-2CBD-86FF-237F-C196EB8A14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9395843"/>
              </p:ext>
            </p:extLst>
          </p:nvPr>
        </p:nvGraphicFramePr>
        <p:xfrm>
          <a:off x="7450655" y="1024372"/>
          <a:ext cx="6064378" cy="4502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A69187D3-07B5-E0EB-E405-B355B0E9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85" y="672089"/>
            <a:ext cx="6251389" cy="4502222"/>
          </a:xfrm>
        </p:spPr>
        <p:txBody>
          <a:bodyPr>
            <a:normAutofit/>
          </a:bodyPr>
          <a:lstStyle/>
          <a:p>
            <a:r>
              <a:rPr lang="en-US" altLang="ja-JP" b="1" dirty="0"/>
              <a:t>AAA</a:t>
            </a:r>
            <a:r>
              <a:rPr lang="ja-JP" altLang="en-US" b="1" dirty="0"/>
              <a:t>財団の推計によると、世界全体で毎年約</a:t>
            </a:r>
            <a:r>
              <a:rPr lang="en-US" altLang="ja-JP" b="1" dirty="0"/>
              <a:t>32</a:t>
            </a:r>
            <a:r>
              <a:rPr lang="ja-JP" altLang="en-US" b="1" dirty="0"/>
              <a:t>万</a:t>
            </a:r>
            <a:r>
              <a:rPr lang="en-US" altLang="ja-JP" b="1" dirty="0"/>
              <a:t>8,000</a:t>
            </a:r>
            <a:r>
              <a:rPr lang="ja-JP" altLang="en-US" b="1" dirty="0"/>
              <a:t>件の交通事故が、</a:t>
            </a:r>
            <a:br>
              <a:rPr lang="ja-JP" altLang="en-US" b="1" dirty="0"/>
            </a:br>
            <a:r>
              <a:rPr lang="ja-JP" altLang="en-US" b="1" dirty="0"/>
              <a:t>運転中の眠気や居眠り運転によって発生しているとされています。</a:t>
            </a:r>
            <a:br>
              <a:rPr lang="ja-JP" altLang="en-US" b="1" dirty="0"/>
            </a:br>
            <a:r>
              <a:rPr lang="ja-JP" altLang="en-US" b="1" dirty="0"/>
              <a:t>これらの事故により、約</a:t>
            </a:r>
            <a:r>
              <a:rPr lang="en-US" altLang="ja-JP" b="1" dirty="0"/>
              <a:t>11</a:t>
            </a:r>
            <a:r>
              <a:rPr lang="ja-JP" altLang="en-US" b="1" dirty="0"/>
              <a:t>万人が負傷し、約</a:t>
            </a:r>
            <a:r>
              <a:rPr lang="en-US" altLang="ja-JP" b="1" dirty="0"/>
              <a:t>6,400</a:t>
            </a:r>
            <a:r>
              <a:rPr lang="ja-JP" altLang="en-US" b="1" dirty="0"/>
              <a:t>人が命を落としています。</a:t>
            </a:r>
            <a:br>
              <a:rPr lang="ja-JP" altLang="en-US" dirty="0"/>
            </a:b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3BE90F-A040-AD29-C634-83F06EC29C1F}"/>
              </a:ext>
            </a:extLst>
          </p:cNvPr>
          <p:cNvSpPr txBox="1"/>
          <p:nvPr/>
        </p:nvSpPr>
        <p:spPr>
          <a:xfrm>
            <a:off x="823452" y="4855581"/>
            <a:ext cx="67596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According to the </a:t>
            </a:r>
            <a:r>
              <a:rPr lang="en-US" b="1" dirty="0"/>
              <a:t>AAA Foundation</a:t>
            </a:r>
            <a:r>
              <a:rPr lang="en-US" dirty="0"/>
              <a:t>, approximately </a:t>
            </a:r>
            <a:r>
              <a:rPr lang="en-US" b="1" dirty="0"/>
              <a:t>328,000 traffic accidents</a:t>
            </a:r>
            <a:r>
              <a:rPr lang="en-US" dirty="0"/>
              <a:t> occur worldwide each year due to driver drowsiness or falling asleep at the wheel.</a:t>
            </a:r>
            <a:br>
              <a:rPr lang="en-US" dirty="0"/>
            </a:br>
            <a:r>
              <a:rPr lang="en-US" dirty="0"/>
              <a:t>These accidents result in roughly </a:t>
            </a:r>
            <a:r>
              <a:rPr lang="en-US" b="1" dirty="0"/>
              <a:t>110,000 injuries</a:t>
            </a:r>
            <a:r>
              <a:rPr lang="en-US" dirty="0"/>
              <a:t> and about </a:t>
            </a:r>
            <a:r>
              <a:rPr lang="en-US" b="1" dirty="0"/>
              <a:t>6,400 fatalities</a:t>
            </a:r>
            <a:r>
              <a:rPr lang="en-US" dirty="0"/>
              <a:t> annually.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3" y="1769807"/>
            <a:ext cx="5181600" cy="4523782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トラック運転手の約</a:t>
            </a:r>
            <a:r>
              <a:rPr lang="en-US" altLang="ja-JP" dirty="0"/>
              <a:t>65</a:t>
            </a:r>
            <a:r>
              <a:rPr lang="ja-JP" altLang="en-US" dirty="0"/>
              <a:t>％が運転中に眠気を経験しており、</a:t>
            </a:r>
            <a:br>
              <a:rPr lang="ja-JP" altLang="en-US" dirty="0"/>
            </a:br>
            <a:r>
              <a:rPr lang="ja-JP" altLang="en-US" dirty="0"/>
              <a:t>約半数が居眠り運転の経験を持っています。</a:t>
            </a:r>
            <a:br>
              <a:rPr lang="ja-JP" altLang="en-US" dirty="0"/>
            </a:b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91C9B5E-EFB9-6007-D0DA-1332D058AC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298" r="202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居眠り運転は交通事故の約</a:t>
            </a:r>
            <a:r>
              <a:rPr lang="en-US" altLang="ja-JP" dirty="0"/>
              <a:t>20〜30</a:t>
            </a:r>
            <a:r>
              <a:rPr lang="ja-JP" altLang="en-US" dirty="0"/>
              <a:t>％に関与しています</a:t>
            </a:r>
            <a:r>
              <a:rPr lang="en-US" altLang="ja-JP" dirty="0"/>
              <a:t>.</a:t>
            </a:r>
            <a:br>
              <a:rPr lang="en-US" altLang="ja-JP" dirty="0"/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7D82516-CF8A-EDEE-B157-C4A21C6C640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40667" r="-1" b="-1"/>
          <a:stretch>
            <a:fillRect/>
          </a:stretch>
        </p:blipFill>
        <p:spPr>
          <a:xfrm>
            <a:off x="20" y="10"/>
            <a:ext cx="6095980" cy="6857990"/>
          </a:xfrm>
          <a:noFill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/>
          <a:p>
            <a:r>
              <a:rPr lang="ja-JP" altLang="en-US"/>
              <a:t>道路の安全性向上とドライバーの命を守ることに貢献</a:t>
            </a:r>
            <a:r>
              <a:rPr lang="en-US" altLang="ja-JP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7" y="364808"/>
            <a:ext cx="7273637" cy="1646555"/>
          </a:xfrm>
        </p:spPr>
        <p:txBody>
          <a:bodyPr/>
          <a:lstStyle/>
          <a:p>
            <a:r>
              <a:rPr lang="en-US" sz="3200" dirty="0"/>
              <a:t>         Business ,marketing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917290"/>
            <a:ext cx="8032956" cy="4249830"/>
          </a:xfrm>
        </p:spPr>
        <p:txBody>
          <a:bodyPr/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cap="none" dirty="0"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01D2F-650E-F3A6-8FDB-4F8301541CBB}"/>
              </a:ext>
            </a:extLst>
          </p:cNvPr>
          <p:cNvSpPr txBox="1"/>
          <p:nvPr/>
        </p:nvSpPr>
        <p:spPr>
          <a:xfrm>
            <a:off x="1042220" y="2288748"/>
            <a:ext cx="3421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Global Market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2024:</a:t>
            </a:r>
            <a:r>
              <a:rPr lang="en-US" dirty="0"/>
              <a:t> ~ USD 2.5–3 billion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2030:</a:t>
            </a:r>
            <a:r>
              <a:rPr lang="en-US" dirty="0"/>
              <a:t> ~ USD 8–10 billion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📈 </a:t>
            </a:r>
            <a:r>
              <a:rPr lang="en-US" b="1" dirty="0"/>
              <a:t>CAGR:</a:t>
            </a:r>
            <a:r>
              <a:rPr lang="en-US" dirty="0"/>
              <a:t> ~ 15–18%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E6BCB9-FC14-3DBB-21D5-2FDA1FBA4882}"/>
              </a:ext>
            </a:extLst>
          </p:cNvPr>
          <p:cNvSpPr txBox="1"/>
          <p:nvPr/>
        </p:nvSpPr>
        <p:spPr>
          <a:xfrm>
            <a:off x="4463845" y="2288748"/>
            <a:ext cx="4218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世界市場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2024</a:t>
            </a:r>
            <a:r>
              <a:rPr lang="zh-TW" altLang="en-US" b="1" dirty="0"/>
              <a:t>年</a:t>
            </a:r>
            <a:r>
              <a:rPr lang="en-US" altLang="zh-TW" b="1" dirty="0"/>
              <a:t>:</a:t>
            </a:r>
            <a:r>
              <a:rPr lang="zh-TW" altLang="en-US" dirty="0"/>
              <a:t> 約 </a:t>
            </a:r>
            <a:r>
              <a:rPr lang="en-US" altLang="zh-TW" b="1" dirty="0"/>
              <a:t>25〜30</a:t>
            </a:r>
            <a:r>
              <a:rPr lang="zh-TW" altLang="en-US" b="1" dirty="0"/>
              <a:t>億</a:t>
            </a:r>
            <a:r>
              <a:rPr lang="en-US" altLang="zh-TW" b="1" dirty="0"/>
              <a:t>USD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2030</a:t>
            </a:r>
            <a:r>
              <a:rPr lang="zh-TW" altLang="en-US" b="1" dirty="0"/>
              <a:t>年</a:t>
            </a:r>
            <a:r>
              <a:rPr lang="en-US" altLang="zh-TW" b="1" dirty="0"/>
              <a:t>:</a:t>
            </a:r>
            <a:r>
              <a:rPr lang="zh-TW" altLang="en-US" dirty="0"/>
              <a:t> 約 </a:t>
            </a:r>
            <a:r>
              <a:rPr lang="en-US" altLang="zh-TW" b="1" dirty="0"/>
              <a:t>80〜100</a:t>
            </a:r>
            <a:r>
              <a:rPr lang="zh-TW" altLang="en-US" b="1" dirty="0"/>
              <a:t>億</a:t>
            </a:r>
            <a:r>
              <a:rPr lang="en-US" altLang="zh-TW" b="1" dirty="0"/>
              <a:t>USD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📈 </a:t>
            </a:r>
            <a:r>
              <a:rPr lang="zh-TW" altLang="en-US" b="1" dirty="0"/>
              <a:t>年平均成長率（</a:t>
            </a:r>
            <a:r>
              <a:rPr lang="en-US" altLang="zh-TW" b="1" dirty="0"/>
              <a:t>CAGR</a:t>
            </a:r>
            <a:r>
              <a:rPr lang="zh-TW" altLang="en-US" b="1" dirty="0"/>
              <a:t>）</a:t>
            </a:r>
            <a:r>
              <a:rPr lang="en-US" altLang="zh-TW" b="1" dirty="0"/>
              <a:t>:</a:t>
            </a:r>
            <a:r>
              <a:rPr lang="zh-TW" altLang="en-US" dirty="0"/>
              <a:t> 約 </a:t>
            </a:r>
            <a:r>
              <a:rPr lang="en-US" altLang="zh-TW" b="1" dirty="0"/>
              <a:t>15〜18%</a:t>
            </a:r>
            <a:endParaRPr lang="zh-TW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68D9F1-4368-282F-01D0-9B0D076A830B}"/>
              </a:ext>
            </a:extLst>
          </p:cNvPr>
          <p:cNvSpPr txBox="1"/>
          <p:nvPr/>
        </p:nvSpPr>
        <p:spPr>
          <a:xfrm>
            <a:off x="864157" y="4137534"/>
            <a:ext cx="63811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🇯🇵 Japan Market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vehicles: ~78.7 million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Trucks / commercial vehicles: ~14–15 million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A1DDDB-C1EC-A908-D5FC-9D45ED4E3D45}"/>
              </a:ext>
            </a:extLst>
          </p:cNvPr>
          <p:cNvSpPr txBox="1"/>
          <p:nvPr/>
        </p:nvSpPr>
        <p:spPr>
          <a:xfrm>
            <a:off x="864157" y="519849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000" b="1" dirty="0"/>
              <a:t>🇯🇵 日本市場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 dirty="0"/>
              <a:t>総自動車台数</a:t>
            </a:r>
            <a:r>
              <a:rPr lang="en-US" altLang="ja-JP" sz="2000" dirty="0"/>
              <a:t>: </a:t>
            </a:r>
            <a:r>
              <a:rPr lang="ja-JP" altLang="en-US" sz="2000" dirty="0"/>
              <a:t>約 </a:t>
            </a:r>
            <a:r>
              <a:rPr lang="en-US" altLang="ja-JP" sz="2000" b="1" dirty="0"/>
              <a:t>7,870</a:t>
            </a:r>
            <a:r>
              <a:rPr lang="ja-JP" altLang="en-US" sz="2000" b="1" dirty="0"/>
              <a:t>万台</a:t>
            </a:r>
            <a:endParaRPr lang="ja-JP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 dirty="0"/>
              <a:t>トラック・商用車</a:t>
            </a:r>
            <a:r>
              <a:rPr lang="en-US" altLang="ja-JP" sz="2000" dirty="0"/>
              <a:t>: </a:t>
            </a:r>
            <a:r>
              <a:rPr lang="ja-JP" altLang="en-US" sz="2000" dirty="0"/>
              <a:t>約 </a:t>
            </a:r>
            <a:r>
              <a:rPr lang="en-US" altLang="ja-JP" sz="2000" b="1" dirty="0"/>
              <a:t>1,400〜1,500</a:t>
            </a:r>
            <a:r>
              <a:rPr lang="ja-JP" altLang="en-US" sz="2000" b="1" dirty="0"/>
              <a:t>万台</a:t>
            </a:r>
            <a:endParaRPr lang="ja-JP" altLang="en-U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6BA2FC1-75FA-8A48-D21A-F0BD4C377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55" y="2737960"/>
            <a:ext cx="2988366" cy="41200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E323280-2164-59CA-2CD1-139FFCBA0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659" y="1475465"/>
            <a:ext cx="2595076" cy="266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22" y="161648"/>
            <a:ext cx="10354052" cy="1209765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913BB5A7-0836-8377-6D8D-DB01B4D5F9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81551" y="2098264"/>
            <a:ext cx="5820697" cy="249339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🚛 Truck &amp; Fleet Segment (Most profitable)</a:t>
            </a:r>
          </a:p>
          <a:p>
            <a:r>
              <a:rPr lang="en-US" dirty="0"/>
              <a:t>Long-haul drivers</a:t>
            </a:r>
          </a:p>
          <a:p>
            <a:r>
              <a:rPr lang="en-US" dirty="0"/>
              <a:t>Night-time logistics</a:t>
            </a:r>
          </a:p>
          <a:p>
            <a:r>
              <a:rPr lang="en-US" dirty="0"/>
              <a:t>Fleet / logistics companies</a:t>
            </a:r>
          </a:p>
          <a:p>
            <a:r>
              <a:rPr lang="en-US" b="1" dirty="0"/>
              <a:t>Subscription Model:</a:t>
            </a:r>
            <a:endParaRPr lang="en-US" dirty="0"/>
          </a:p>
          <a:p>
            <a:r>
              <a:rPr lang="en-US" dirty="0"/>
              <a:t>¥1,000–3,000 per vehicle per month</a:t>
            </a:r>
          </a:p>
          <a:p>
            <a:r>
              <a:rPr lang="en-US" dirty="0"/>
              <a:t>Fleet of 100 vehicles = ¥100,000+ per month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F20D7-0E89-ABCE-918F-F61FB53940A9}"/>
              </a:ext>
            </a:extLst>
          </p:cNvPr>
          <p:cNvSpPr txBox="1"/>
          <p:nvPr/>
        </p:nvSpPr>
        <p:spPr>
          <a:xfrm>
            <a:off x="6002248" y="1905506"/>
            <a:ext cx="58206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400" b="1" dirty="0"/>
              <a:t>トラック・フリート市場（最も収益性が高い）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長距離運転のドライバー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夜間物流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物流会社・フリート管理会社</a:t>
            </a:r>
          </a:p>
          <a:p>
            <a:pPr>
              <a:buNone/>
            </a:pPr>
            <a:r>
              <a:rPr lang="ja-JP" altLang="en-US" sz="2400" b="1" dirty="0"/>
              <a:t>サブスクリプションモデル</a:t>
            </a:r>
            <a:r>
              <a:rPr lang="en-US" altLang="ja-JP" sz="2400" b="1" dirty="0"/>
              <a:t>:</a:t>
            </a:r>
            <a:endParaRPr lang="ja-JP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400" dirty="0"/>
              <a:t>1</a:t>
            </a:r>
            <a:r>
              <a:rPr lang="ja-JP" altLang="en-US" sz="2400" dirty="0"/>
              <a:t>台あたり </a:t>
            </a:r>
            <a:r>
              <a:rPr lang="ja-JP" altLang="en-US" sz="2400" b="1" dirty="0"/>
              <a:t>月額</a:t>
            </a:r>
            <a:r>
              <a:rPr lang="en-US" altLang="ja-JP" sz="2400" b="1" dirty="0"/>
              <a:t>1,000〜3,000</a:t>
            </a:r>
            <a:r>
              <a:rPr lang="ja-JP" altLang="en-US" sz="2400" b="1" dirty="0"/>
              <a:t>円</a:t>
            </a:r>
            <a:endParaRPr lang="ja-JP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400" dirty="0"/>
              <a:t>100</a:t>
            </a:r>
            <a:r>
              <a:rPr lang="ja-JP" altLang="en-US" sz="2400" dirty="0"/>
              <a:t>台フリート → </a:t>
            </a:r>
            <a:r>
              <a:rPr lang="ja-JP" altLang="en-US" sz="2400" b="1" dirty="0"/>
              <a:t>月額</a:t>
            </a:r>
            <a:r>
              <a:rPr lang="en-US" altLang="ja-JP" sz="2400" b="1" dirty="0"/>
              <a:t>10</a:t>
            </a:r>
            <a:r>
              <a:rPr lang="ja-JP" altLang="en-US" sz="2400" b="1" dirty="0"/>
              <a:t>万円以上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199" y="2562864"/>
            <a:ext cx="5057104" cy="3624984"/>
          </a:xfrm>
        </p:spPr>
        <p:txBody>
          <a:bodyPr>
            <a:normAutofit/>
          </a:bodyPr>
          <a:lstStyle/>
          <a:p>
            <a:r>
              <a:rPr lang="en-US" sz="7200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883" y="3258590"/>
            <a:ext cx="997544" cy="1116766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{AA3CEB11-1561-4E87-AF99-56E28B0B27F6}TF44172dc5-d19e-4d2a-aaf3-e2c69a283fd81f4275d0_win32-950e754c5494</Template>
  <TotalTime>60</TotalTime>
  <Words>346</Words>
  <Application>Microsoft Office PowerPoint</Application>
  <PresentationFormat>Widescreen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Driver Drowsiness Detection  居眠り運転検知・警告システム  </vt:lpstr>
      <vt:lpstr>AAA財団の推計によると、世界全体で毎年約32万8,000件の交通事故が、 運転中の眠気や居眠り運転によって発生しているとされています。 これらの事故により、約11万人が負傷し、約6,400人が命を落としています。 </vt:lpstr>
      <vt:lpstr>トラック運転手の約65％が運転中に眠気を経験しており、 約半数が居眠り運転の経験を持っています。 </vt:lpstr>
      <vt:lpstr>居眠り運転は交通事故の約20〜30％に関与しています. </vt:lpstr>
      <vt:lpstr>         Business ,marketing</vt:lpstr>
      <vt:lpstr>Financials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Ariya O.</dc:creator>
  <cp:lastModifiedBy>Ariya O.</cp:lastModifiedBy>
  <cp:revision>1</cp:revision>
  <dcterms:created xsi:type="dcterms:W3CDTF">2026-01-27T01:59:22Z</dcterms:created>
  <dcterms:modified xsi:type="dcterms:W3CDTF">2026-01-27T02:59:55Z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